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Trebuchet MS"/>
              </a:rPr>
              <a:t>Citation Accuracy by System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Citation Accuracy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GPT-4o</c:v>
                  </c:pt>
                  <c:pt idx="1">
                    <c:v>GPT-5</c:v>
                  </c:pt>
                  <c:pt idx="2">
                    <c:v>OpenScholar</c:v>
                  </c:pt>
                  <c:pt idx="3">
                    <c:v>Human Experts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61</c:v>
                </c:pt>
                <c:pt idx="2">
                  <c:v>82</c:v>
                </c:pt>
                <c:pt idx="3">
                  <c:v>84</c:v>
                </c:pt>
              </c:numCache>
            </c:numRef>
          </c:val>
        </c:ser>
        <c:dLbls>
          <c:numFmt formatCode="#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F4F8"/>
        </a:solidFill>
        <a:ln>
          <a:noFill/>
        </a:ln>
        <a:effectLst/>
      </c:spPr>
    </c:plotArea>
    <c:plotVisOnly val="1"/>
    <c:dispBlanksAs val="span"/>
  </c:chart>
  <c:spPr>
    <a:solidFill>
      <a:srgbClr val="F2F4F8"/>
    </a:solidFill>
    <a:ln w="12700" cap="flat">
      <a:solidFill>
        <a:srgbClr val="F2F4F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s41586-025-10072-4" TargetMode="External"/><Relationship Id="rId3" Type="http://schemas.openxmlformats.org/officeDocument/2006/relationships/hyperlink" Target="https://arxiv.org/abs/2509.04499" TargetMode="External"/><Relationship Id="rId1" Type="http://schemas.openxmlformats.org/officeDocument/2006/relationships/chart" Target="/ppt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9.1336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9.04499" TargetMode="External"/><Relationship Id="rId2" Type="http://schemas.openxmlformats.org/officeDocument/2006/relationships/hyperlink" Target="https://doi.org/10.1038/s41586-025-10072-4" TargetMode="External"/><Relationship Id="rId3" Type="http://schemas.openxmlformats.org/officeDocument/2006/relationships/hyperlink" Target="https://arxiv.org/abs/2508.05666" TargetMode="External"/><Relationship Id="rId4" Type="http://schemas.openxmlformats.org/officeDocument/2006/relationships/hyperlink" Target="https://arxiv.org/abs/2410.05801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9.13365" TargetMode="External"/><Relationship Id="rId2" Type="http://schemas.openxmlformats.org/officeDocument/2006/relationships/hyperlink" Target="https://arxiv.org/abs/2509.04499" TargetMode="External"/><Relationship Id="rId3" Type="http://schemas.openxmlformats.org/officeDocument/2006/relationships/hyperlink" Target="https://doi.org/10.1038/s41586-025-10072-4" TargetMode="External"/><Relationship Id="rId4" Type="http://schemas.openxmlformats.org/officeDocument/2006/relationships/hyperlink" Target="https://arxiv.org/abs/2508.05666" TargetMode="External"/><Relationship Id="rId5" Type="http://schemas.openxmlformats.org/officeDocument/2006/relationships/hyperlink" Target="https://arxiv.org/abs/2410.05801" TargetMode="External"/><Relationship Id="rId6" Type="http://schemas.openxmlformats.org/officeDocument/2006/relationships/hyperlink" Target="https://arxiv.org/abs/2409.10102" TargetMode="External"/><Relationship Id="rId7" Type="http://schemas.openxmlformats.org/officeDocument/2006/relationships/hyperlink" Target="https://arxiv.org/abs/2311.05232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0972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CitationTrace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Provenance Problem in AI-Assisted Research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SaaS Platform for Verified Scholarly Citations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Project  |  April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4572000"/>
            <a:ext cx="1371600" cy="57150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Citation Crisis in AI Research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fabricates citations in 78–90% of cases</a:t>
            </a:r>
            <a:endParaRPr lang="en-US" sz="1400" dirty="0"/>
          </a:p>
          <a:p>
            <a:pPr lvl="1" indent="0" marL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(Asai et al., Nature 2026)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reduces this to 39% title-level hallucination — but still fabricates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≥51 papers at NeurIPS 2025 contained AI-hallucinated citations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DeepTRACE finds citation accuracy only 40–80% across major AI systems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(Venkit et al., 2025)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937760" y="1188720"/>
          <a:ext cx="3840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Asai et al. (Nature 2026)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Venkit et al. (2025)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Provenance Problem?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13043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61872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systematic breakdown in the chain of scholarly credit — AI reproduces insights from sources never encountered or cited"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Earp et al. (2025)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4688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Non-intentional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deception involved, but credit is still lost. Authors unknowingly circulate uncredited ideas.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19272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27355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Unaddressed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ethical and professional frameworks treat it as plagiarism — they fail to capture the systemic nature.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23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07822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Systemic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becomes embedded in research, significant ideas circulate without attribution at scale.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Earp et al. (2025)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Existing Frameworks Fall Short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Frameworks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383280" cy="13716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intentional plagiarism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policies fragmented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provenance tracing mechanism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AI models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Needed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691640"/>
            <a:ext cx="3383280" cy="13716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non-intentional attribution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governance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 of every claim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auditable pipeline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Literature Tells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DeepTRACE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Venkit et al., 2025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8-dimension audit framework for AI citation reliability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258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OpenScholar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 et al., Nature 2026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+ 45M papers = expert-level citations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0632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HySemRAG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Godinez, 2025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citation accuracy with agentic QA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30632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2004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CoV-RAG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et al., 2024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Chain-of-Verification improves RAG grounding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Venkit et al. (2025)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Asai et al. (Nature 2026)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Godinez (2025)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9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 et al. (2024)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 CitationTrace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Scholarly Citations. Guaranteed Provenance.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F305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over real academic databases (Semantic Scholar, 45M+ papers)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F3058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60020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874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Statement-level citation confidence scoring via cosine similarity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1F3058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60020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74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LangSmith-powered end-to-end trace log for full reproducibility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CitationTrace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137160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2D4A7A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371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37160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2D4A7A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371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37160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371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371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60920" y="13716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1371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1572768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1572768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1572768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1572768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1572768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0" y="2606040"/>
            <a:ext cx="2103120" cy="73152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2606040"/>
            <a:ext cx="2103120" cy="731520"/>
          </a:xfrm>
          <a:prstGeom prst="round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2194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2194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8229600" cy="14630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Components: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API: Access to 45M+ academic papers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Retriever/Reranker: Relevance-scored document retrieval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Verifier: Cosine similarity for claim-source matching</a:t>
            </a:r>
            <a:endParaRPr lang="en-US" sz="1400" dirty="0"/>
          </a:p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LangSmith: Full observability and audit trail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CitationTrace Retrieves &amp; Verifies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API retrieves top-5 papers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325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reranked by relevance 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325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answer with inline [1][2][3] citations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≥ 0.35 = verified citation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2004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2336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74720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chain-of-evidence audit trail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2004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55080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+ audit log delivered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Provenance with LangSmith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 tracks every step of the pipeline: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— prompt, completion, token usage, latency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retrieval step — query, retrieved documents, relevance scores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verification decision — cosine similarity scores, pass/fail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8803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Reproducibility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result can be exactly reproduced by replaying the trace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2788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8803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Third-party Auditable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reviewers can inspect the entire evidence chain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788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28803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Traceable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links back to its original academic source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 researcher asks why Claim X is attributed to Source Y, CitationTrace shows the exact evidence chain."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Illustrative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Query: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the effects of RAG on citation hallucination rates?"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1168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Snippet: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systems significantly reduce citation hallucination. DeepTRACE [1] finds that retrieval-augmented models achieve 40–80% accuracy. OpenScholar [2] demonstrates expert-level performance using 45M papers. HySemRAG [3] achieves 99% accuracy through agentic QA verification.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9202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20116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papers retrieved, 5 verified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Accuracy: 100%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3246120"/>
            <a:ext cx="2926080" cy="1508760"/>
          </a:xfrm>
          <a:prstGeom prst="roundRect">
            <a:avLst>
              <a:gd name="adj" fmla="val 6061"/>
            </a:avLst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333756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Card Example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DeepTRACE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A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Venkit et al., 2025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0.79  ✓ Verified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CitationTrace Bridges the Ethical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CitationTrace Solution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365760" cy="50292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3931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harm (non-intentional)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6576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6916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3931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automatic attribution at generation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931920" cy="6858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governance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2468880"/>
            <a:ext cx="365760" cy="6858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24688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3931920" cy="6858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468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LangSmith trace any third party can inspect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3931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46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injustice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0" y="3246120"/>
            <a:ext cx="36576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32461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754880" y="3246120"/>
            <a:ext cx="3931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246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low-cost (OpenScholar-style 8B model)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3931920" cy="6858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023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9120" y="4023360"/>
            <a:ext cx="365760" cy="6858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40233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754880" y="4023360"/>
            <a:ext cx="3931920" cy="685800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023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chain-of-evidence: query → claim → source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ScholarQABench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2,967 queries across 4 domains: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Biomedicine</a:t>
            </a:r>
            <a:endParaRPr lang="en-US" sz="1600" dirty="0"/>
          </a:p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9000000">
              <a:srgbClr val="1a27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2588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&amp; Targets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 F1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match OpenScholar (47–64%)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Claim-to-Source Confidence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threshold ≥ 0.35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Unsupported Sentence Ratio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sentences without evidence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DeepTRACE Audit Dimensions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8-dimension evaluation checklist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provenance problem is real, growing, and unaddressed by current frameworks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CitationTrace demonstrates that RAG + verification + auditing can achieve expert-level citation accuracy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integration makes the chain of evidence transparent and fully reproducible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approach democratizes access to verified research synthesis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integrate user feedback loop, expand to non-English literature, scale to larger corpora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4572000"/>
            <a:ext cx="1371600" cy="57150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Earp, B. D., et al. (2025). The provenance problem: How AI challenges scholarly credit. arXiv:2509.13365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Venkit, P. N., et al. (2025). DeepTRACE: An audit framework for AI citation reliability. arXiv:2509.04499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Asai, A., et al. (2026). OpenScholar: Synthesizing scientific literature with retrieval-augmented LMs. Nature. doi:10.1038/s41586-025-10072-4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Godinez, W. J. (2025). HySemRAG: Agentic QA for citation accuracy. arXiv:2508.05666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He, Z., et al. (2024). CoV-RAG: Chain-of-Verification for RAG grounding. arXiv:2410.05801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Zhou, Y., et al. (2024). Trustworthy RAG: Combating hallucinations in retrieval-augmented generation. arXiv:2409.10102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00" u="sng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Huang, L., et al. (2024). A survey on hallucination in large language models. arXiv:2311.05232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2026-04-15T02:49:17Z</dcterms:created>
  <dcterms:modified xsi:type="dcterms:W3CDTF">2026-04-15T02:49:17Z</dcterms:modified>
</cp:coreProperties>
</file>