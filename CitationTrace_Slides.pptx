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93B"/>
                </a:solidFill>
                <a:latin typeface="Trebuchet MS"/>
              </a:defRPr>
            </a:pPr>
            <a:r>
              <a:rPr sz="1300" b="0" i="0" u="none" strike="noStrike">
                <a:solidFill>
                  <a:srgbClr val="1E293B"/>
                </a:solidFill>
                <a:latin typeface="Trebuchet MS"/>
              </a:rPr>
              <a:t>Citation Accuracy by System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Citation Accuracy (%)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GPT-4o</c:v>
                  </c:pt>
                  <c:pt idx="1">
                    <c:v>GPT-5</c:v>
                  </c:pt>
                  <c:pt idx="2">
                    <c:v>OpenScholar</c:v>
                  </c:pt>
                  <c:pt idx="3">
                    <c:v>Human Experts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</c:v>
                </c:pt>
                <c:pt idx="1">
                  <c:v>61</c:v>
                </c:pt>
                <c:pt idx="2">
                  <c:v>82</c:v>
                </c:pt>
                <c:pt idx="3">
                  <c:v>84</c:v>
                </c:pt>
              </c:numCache>
            </c:numRef>
          </c:val>
        </c:ser>
        <c:dLbls>
          <c:numFmt formatCode="#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2F4F8"/>
        </a:solidFill>
        <a:ln>
          <a:noFill/>
        </a:ln>
        <a:effectLst/>
      </c:spPr>
    </c:plotArea>
    <c:plotVisOnly val="1"/>
    <c:dispBlanksAs val="span"/>
  </c:chart>
  <c:spPr>
    <a:solidFill>
      <a:srgbClr val="F2F4F8"/>
    </a:solidFill>
    <a:ln w="12700" cap="flat">
      <a:solidFill>
        <a:srgbClr val="F2F4F8"/>
      </a:solidFill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hyperlink" Target="https://doi.org/10.1038/s41586-025-10072-4" TargetMode="External"/><Relationship Id="rId3" Type="http://schemas.openxmlformats.org/officeDocument/2006/relationships/hyperlink" Target="https://arxiv.org/abs/2509.04499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hyperlink" Target="https://arxiv.org/abs/2509.13365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hyperlink" Target="https://arxiv.org/abs/2509.04499" TargetMode="External"/><Relationship Id="rId2" Type="http://schemas.openxmlformats.org/officeDocument/2006/relationships/hyperlink" Target="https://doi.org/10.1038/s41586-025-10072-4" TargetMode="External"/><Relationship Id="rId3" Type="http://schemas.openxmlformats.org/officeDocument/2006/relationships/hyperlink" Target="https://arxiv.org/abs/2508.05666" TargetMode="External"/><Relationship Id="rId4" Type="http://schemas.openxmlformats.org/officeDocument/2006/relationships/hyperlink" Target="https://arxiv.org/abs/2410.05801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hyperlink" Target="https://arxiv.org/abs/2509.13365" TargetMode="External"/><Relationship Id="rId2" Type="http://schemas.openxmlformats.org/officeDocument/2006/relationships/hyperlink" Target="https://arxiv.org/abs/2509.04499" TargetMode="External"/><Relationship Id="rId3" Type="http://schemas.openxmlformats.org/officeDocument/2006/relationships/hyperlink" Target="https://doi.org/10.1038/s41586-025-10072-4" TargetMode="External"/><Relationship Id="rId4" Type="http://schemas.openxmlformats.org/officeDocument/2006/relationships/hyperlink" Target="https://arxiv.org/abs/2508.05666" TargetMode="External"/><Relationship Id="rId5" Type="http://schemas.openxmlformats.org/officeDocument/2006/relationships/hyperlink" Target="https://arxiv.org/abs/2410.05801" TargetMode="External"/><Relationship Id="rId6" Type="http://schemas.openxmlformats.org/officeDocument/2006/relationships/hyperlink" Target="https://arxiv.org/abs/2409.10102" TargetMode="External"/><Relationship Id="rId7" Type="http://schemas.openxmlformats.org/officeDocument/2006/relationships/hyperlink" Target="https://arxiv.org/abs/2311.05232" TargetMode="Externa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188720"/>
            <a:ext cx="109728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CitationTrace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548640" y="2240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6BA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Solving the Provenance Problem in AI-Assisted Research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278892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SaaS Platform for Verified Scholarly Citations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9319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Graduate Project  |  April 2026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772400" y="4572000"/>
            <a:ext cx="1371600" cy="571500"/>
          </a:xfrm>
          <a:prstGeom prst="rect">
            <a:avLst/>
          </a:prstGeom>
          <a:solidFill>
            <a:srgbClr val="3B82F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Citation Crisis in AI Research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4206240" cy="34747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 fabricates citations in 78–90% of cases</a:t>
            </a:r>
            <a:endParaRPr lang="en-US" sz="1400" dirty="0"/>
          </a:p>
          <a:p>
            <a:pPr lvl="1" indent="0" marL="0">
              <a:spcAft>
                <a:spcPts val="14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(Asai et al., Nature 2026)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 reduces this to 39% title-level hallucination — but still fabricates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≥51 papers at NeurIPS 2025 contained AI-hallucinated citations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DeepTRACE finds citation accuracy only 40–80% across major AI systems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(Venkit et al., 2025)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937760" y="1188720"/>
          <a:ext cx="384048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Source: </a:t>
            </a:r>
            <a:pPr indent="0" marL="0">
              <a:buNone/>
            </a:pPr>
            <a:r>
              <a:rPr lang="en-US" sz="900" u="sng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Asai et al. (Nature 2026)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, </a:t>
            </a:r>
            <a:pPr indent="0" marL="0">
              <a:buNone/>
            </a:pPr>
            <a:r>
              <a:rPr lang="en-US" sz="900" u="sng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Venkit et al. (2025)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the Provenance Problem?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8229600" cy="1051560"/>
          </a:xfrm>
          <a:prstGeom prst="roundRect">
            <a:avLst>
              <a:gd name="adj" fmla="val 13043"/>
            </a:avLst>
          </a:prstGeom>
          <a:solidFill>
            <a:srgbClr val="1A2744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261872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systematic breakdown in the chain of scholarly credit — AI reproduces insights from sources never encountered or cited"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6BA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Earp et al. (2025)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411480" cy="41148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514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43000" y="246888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Non-intentional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deception involved, but credit is still lost. Authors unknowingly circulate uncredited ideas.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319272"/>
            <a:ext cx="411480" cy="41148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3192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43000" y="3273552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Unaddressed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ethical and professional frameworks treat it as plagiarism — they fail to capture the systemic nature.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123944"/>
            <a:ext cx="411480" cy="41148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41239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43000" y="4078224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Systemic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AI becomes embedded in research, significant ideas circulate without attribution at scale.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Source: </a:t>
            </a:r>
            <a:pPr indent="0" marL="0">
              <a:buNone/>
            </a:pPr>
            <a:r>
              <a:rPr lang="en-US" sz="900" u="sng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Earp et al. (2025)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Existing Frameworks Fall Short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93192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9000000">
              <a:srgbClr val="1a2744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188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Current Frameworks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1691640"/>
            <a:ext cx="3383280" cy="13716"/>
          </a:xfrm>
          <a:prstGeom prst="rect">
            <a:avLst/>
          </a:prstGeom>
          <a:solidFill>
            <a:srgbClr val="E8ECF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828800"/>
            <a:ext cx="3383280" cy="2560320"/>
          </a:xfrm>
          <a:prstGeom prst="rect">
            <a:avLst/>
          </a:prstGeom>
          <a:noFill/>
          <a:ln/>
        </p:spPr>
        <p:txBody>
          <a:bodyPr wrap="square" lIns="76200" tIns="101600" rIns="101600" bIns="76200" rtlCol="0" anchor="t"/>
          <a:lstStyle/>
          <a:p>
            <a:pPr marL="342900" indent="-342900">
              <a:spcAft>
                <a:spcPts val="1000"/>
              </a:spcAft>
              <a:buSzPct val="100000"/>
              <a:buChar char="✗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intentional plagiarism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✗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Publisher policies fragmented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✗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provenance tracing mechanism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✗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Black-box AI models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1188720"/>
            <a:ext cx="393192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9000000">
              <a:srgbClr val="1a2744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754880" y="1188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What's Needed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29200" y="1691640"/>
            <a:ext cx="3383280" cy="13716"/>
          </a:xfrm>
          <a:prstGeom prst="rect">
            <a:avLst/>
          </a:prstGeom>
          <a:solidFill>
            <a:srgbClr val="E8ECF2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0" y="1828800"/>
            <a:ext cx="3383280" cy="2560320"/>
          </a:xfrm>
          <a:prstGeom prst="rect">
            <a:avLst/>
          </a:prstGeom>
          <a:noFill/>
          <a:ln/>
        </p:spPr>
        <p:txBody>
          <a:bodyPr wrap="square" lIns="76200" tIns="101600" rIns="101600" bIns="76200" rtlCol="0" anchor="t"/>
          <a:lstStyle/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non-intentional attribution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governance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trace of every claim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Transparent, auditable pipeline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the Literature Tells Us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93192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9000000">
              <a:srgbClr val="1a2744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88720"/>
            <a:ext cx="393192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32588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27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DeepTRACE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Venkit et al., 2025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8-dimension audit framework for AI citation reliability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754880" y="1188720"/>
            <a:ext cx="393192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9000000">
              <a:srgbClr val="1a2744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188720"/>
            <a:ext cx="393192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32588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27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OpenScholar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Asai et al., Nature 2026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+ 45M papers = expert-level citations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57200" y="3063240"/>
            <a:ext cx="393192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9000000">
              <a:srgbClr val="1a2744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3063240"/>
            <a:ext cx="393192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20040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27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HySemRAG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Godinez, 2025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99% citation accuracy with agentic QA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754880" y="3063240"/>
            <a:ext cx="393192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9000000">
              <a:srgbClr val="1a2744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54880" y="3063240"/>
            <a:ext cx="393192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5" name="Text 13"/>
          <p:cNvSpPr/>
          <p:nvPr/>
        </p:nvSpPr>
        <p:spPr>
          <a:xfrm>
            <a:off x="4937760" y="320040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27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CoV-RAG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et al., 2024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Chain-of-Verification improves RAG grounding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Source: </a:t>
            </a:r>
            <a:pPr indent="0" marL="0">
              <a:buNone/>
            </a:pPr>
            <a:r>
              <a:rPr lang="en-US" sz="900" u="sng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Venkit et al. (2025)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, </a:t>
            </a:r>
            <a:pPr indent="0" marL="0">
              <a:buNone/>
            </a:pPr>
            <a:r>
              <a:rPr lang="en-US" sz="900" u="sng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Asai et al. (Nature 2026)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, </a:t>
            </a:r>
            <a:pPr indent="0" marL="0">
              <a:buNone/>
            </a:pPr>
            <a:r>
              <a:rPr lang="en-US" sz="900" u="sng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Godinez (2025)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, </a:t>
            </a:r>
            <a:pPr indent="0" marL="0">
              <a:buNone/>
            </a:pPr>
            <a:r>
              <a:rPr lang="en-US" sz="900" u="sng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 et al. (2024)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Introducing CitationTrace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A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Scholarly Citations. Guaranteed Provenance.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06040" cy="2834640"/>
          </a:xfrm>
          <a:prstGeom prst="roundRect">
            <a:avLst>
              <a:gd name="adj" fmla="val 4211"/>
            </a:avLst>
          </a:prstGeom>
          <a:solidFill>
            <a:srgbClr val="1F3058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1600200"/>
            <a:ext cx="260604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8745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RETRIEVE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pipeline over 3 scholarly APIs in parallel: OpenAlex (250M+), CrossRef (140M+), PubMed (37M+)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37560" y="1600200"/>
            <a:ext cx="2606040" cy="2834640"/>
          </a:xfrm>
          <a:prstGeom prst="roundRect">
            <a:avLst>
              <a:gd name="adj" fmla="val 4211"/>
            </a:avLst>
          </a:prstGeom>
          <a:solidFill>
            <a:srgbClr val="1F3058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337560" y="1600200"/>
            <a:ext cx="2606040" cy="54864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520440" y="18745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VERIFY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520440" y="233172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Statement-level citation confidence scoring via cosine similarity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17920" y="1600200"/>
            <a:ext cx="2606040" cy="2834640"/>
          </a:xfrm>
          <a:prstGeom prst="roundRect">
            <a:avLst>
              <a:gd name="adj" fmla="val 4211"/>
            </a:avLst>
          </a:prstGeom>
          <a:solidFill>
            <a:srgbClr val="1F3058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17920" y="1600200"/>
            <a:ext cx="260604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0" y="18745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0" y="2331720"/>
            <a:ext cx="2240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LangSmith-powered end-to-end trace log for full reproducibility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CitationTrace Architecture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1188720" cy="822960"/>
          </a:xfrm>
          <a:prstGeom prst="roundRect">
            <a:avLst>
              <a:gd name="adj" fmla="val 8889"/>
            </a:avLst>
          </a:prstGeom>
          <a:solidFill>
            <a:srgbClr val="1A2744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Query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691640" y="1371600"/>
            <a:ext cx="1188720" cy="822960"/>
          </a:xfrm>
          <a:prstGeom prst="roundRect">
            <a:avLst>
              <a:gd name="adj" fmla="val 8889"/>
            </a:avLst>
          </a:prstGeom>
          <a:solidFill>
            <a:srgbClr val="2D4A7A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691640" y="137160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108960" y="1371600"/>
            <a:ext cx="1188720" cy="822960"/>
          </a:xfrm>
          <a:prstGeom prst="roundRect">
            <a:avLst>
              <a:gd name="adj" fmla="val 8889"/>
            </a:avLst>
          </a:prstGeom>
          <a:solidFill>
            <a:srgbClr val="2D4A7A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108960" y="137160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OpenAlex +</a:t>
            </a:r>
          </a:p>
          <a:p>
            <a:pPr algn="ctr" indent="0" marL="0">
              <a:buNone/>
            </a:pPr>
            <a:endParaRPr lang="en-US" sz="1100" dirty="0"/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CrossRef +</a:t>
            </a:r>
          </a:p>
          <a:p>
            <a:pPr algn="ctr" indent="0" marL="0">
              <a:buNone/>
            </a:pPr>
            <a:endParaRPr lang="en-US" sz="1100" dirty="0"/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PubMed</a:t>
            </a:r>
          </a:p>
        </p:txBody>
      </p:sp>
      <p:sp>
        <p:nvSpPr>
          <p:cNvPr id="10" name="Shape 8"/>
          <p:cNvSpPr/>
          <p:nvPr/>
        </p:nvSpPr>
        <p:spPr>
          <a:xfrm>
            <a:off x="4526280" y="1371600"/>
            <a:ext cx="1188720" cy="822960"/>
          </a:xfrm>
          <a:prstGeom prst="roundRect">
            <a:avLst>
              <a:gd name="adj" fmla="val 8889"/>
            </a:avLst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526280" y="137160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943600" y="1371600"/>
            <a:ext cx="1188720" cy="822960"/>
          </a:xfrm>
          <a:prstGeom prst="roundRect">
            <a:avLst>
              <a:gd name="adj" fmla="val 8889"/>
            </a:avLst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943600" y="137160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60920" y="1371600"/>
            <a:ext cx="1417320" cy="822960"/>
          </a:xfrm>
          <a:prstGeom prst="roundRect">
            <a:avLst>
              <a:gd name="adj" fmla="val 8889"/>
            </a:avLst>
          </a:prstGeom>
          <a:solidFill>
            <a:srgbClr val="16A34A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60920" y="137160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463040" y="1572768"/>
            <a:ext cx="228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880360" y="1572768"/>
            <a:ext cx="228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297680" y="1572768"/>
            <a:ext cx="228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715000" y="1572768"/>
            <a:ext cx="228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132320" y="1572768"/>
            <a:ext cx="228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286000" y="2606040"/>
            <a:ext cx="2103120" cy="731520"/>
          </a:xfrm>
          <a:prstGeom prst="round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2286000" y="26060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LangSmith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029200" y="2606040"/>
            <a:ext cx="2103120" cy="731520"/>
          </a:xfrm>
          <a:prstGeom prst="roundRect">
            <a:avLst/>
          </a:prstGeom>
          <a:solidFill>
            <a:srgbClr val="1A2744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5029200" y="26060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0" y="219456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2926080" y="219456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57200" y="3520440"/>
            <a:ext cx="8229600" cy="146304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Components: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OpenAlex + CrossRef + PubMed: 420M+ papers across 3 parallel sources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 Reranker: Relevance × citation count scoring (top 20 from 30 candidates)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 Verifier: Cosine similarity for claim-source matching</a:t>
            </a:r>
            <a:endParaRPr lang="en-US" sz="1400" dirty="0"/>
          </a:p>
          <a:p>
            <a:pPr marL="342900" indent="-342900">
              <a:buSzPct val="100000"/>
              <a:buChar char="▪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LangSmith: Full observability and audit trail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CitationTrace Retrieves &amp; Verifies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9000000">
              <a:srgbClr val="1a2744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94360" y="1325880"/>
            <a:ext cx="457200" cy="4572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9436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13258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7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QUERY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9202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APIs queried in parallel — up to 30 candidates fetched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37560" y="118872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9000000">
              <a:srgbClr val="1a2744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474720" y="1325880"/>
            <a:ext cx="457200" cy="4572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47472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023360" y="13258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7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RERANK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74720" y="19202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Papers reranked by relevance score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118872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9000000">
              <a:srgbClr val="1a2744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355080" y="1325880"/>
            <a:ext cx="457200" cy="4572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35508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903720" y="13258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7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GENERATE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355080" y="19202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Synthesized answer with inline [1][2][3] citations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06324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9000000">
              <a:srgbClr val="1a2744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3200400"/>
            <a:ext cx="457200" cy="4572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143000" y="32004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7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VERIFY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94360" y="379476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NLI 4-class scoring: Supported / Partial / Low Conf. / Unverified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337560" y="306324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9000000">
              <a:srgbClr val="1a2744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3474720" y="3200400"/>
            <a:ext cx="457200" cy="4572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34747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023360" y="32004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7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3474720" y="379476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chain-of-evidence audit trail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17920" y="306324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9000000">
              <a:srgbClr val="1a2744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6355080" y="3200400"/>
            <a:ext cx="457200" cy="4572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635508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903720" y="32004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7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355080" y="379476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+ citations + audit log delivered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End-to-End Provenance with LangSmith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LangSmith tracks every step of the pipeline: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LLM call — prompt, completion, token usage, latency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retrieval step — query, retrieved documents, relevance scores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verification decision — cosine similarity scores, pass/fail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788920"/>
            <a:ext cx="26060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9000000">
              <a:srgbClr val="1a2744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288036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A27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 Reproducibility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result can be exactly reproduced by replaying the trace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37560" y="2788920"/>
            <a:ext cx="26060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9000000">
              <a:srgbClr val="1a2744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74720" y="288036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A27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Third-party Auditable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reviewers can inspect the entire evidence chain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2788920"/>
            <a:ext cx="26060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9000000">
              <a:srgbClr val="1a2744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55080" y="288036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A27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Source Traceable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links back to its original academic source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"If a researcher asks why Claim X is attributed to Source Y, CitationTrace shows the exact evidence chain."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Illustrative Example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1A2744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A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Query: </a:t>
            </a:r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are the effects of RAG on citation hallucination rates?"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502920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9000000">
              <a:srgbClr val="1a2744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2011680"/>
            <a:ext cx="4663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A27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Response Snippet: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RAG-based systems significantly reduce citation hallucination. DeepTRACE [1] finds that retrieval-augmented models achieve 40–80% accuracy. OpenScholar [2] demonstrates expert-level performance using 45M papers. HySemRAG [3] achieves 99% accuracy through agentic QA verification.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760720" y="1920240"/>
            <a:ext cx="2926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9000000">
              <a:srgbClr val="1a2744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0" y="2011680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A27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papers retrieved, 5 verified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 Accuracy: 100%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760720" y="3246120"/>
            <a:ext cx="2926080" cy="1508760"/>
          </a:xfrm>
          <a:prstGeom prst="roundRect">
            <a:avLst>
              <a:gd name="adj" fmla="val 6061"/>
            </a:avLst>
          </a:prstGeom>
          <a:solidFill>
            <a:srgbClr val="1A2744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0" y="3337560"/>
            <a:ext cx="2560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 Card Example</a:t>
            </a:r>
            <a:endParaRPr lang="en-US" sz="10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DeepTRACE</a:t>
            </a:r>
            <a:endParaRPr lang="en-US" sz="1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6BA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Venkit et al., 2025</a:t>
            </a:r>
            <a:endParaRPr lang="en-US" sz="10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Confidence: 0.79  ✓ Verified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CitationTrace Bridges the Ethical Gap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931920" cy="5029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Problem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3931920" cy="5029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0" y="1188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CitationTrace Solution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89120" y="1188720"/>
            <a:ext cx="365760" cy="502920"/>
          </a:xfrm>
          <a:prstGeom prst="rect">
            <a:avLst/>
          </a:prstGeom>
          <a:solidFill>
            <a:srgbClr val="E8ECF2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1691640"/>
            <a:ext cx="3931920" cy="685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69164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harm (non-intentional)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89120" y="1691640"/>
            <a:ext cx="365760" cy="685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4389120" y="169164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754880" y="1691640"/>
            <a:ext cx="3931920" cy="685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4937760" y="169164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Mandatory automatic attribution at generation time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2468880"/>
            <a:ext cx="3931920" cy="685800"/>
          </a:xfrm>
          <a:prstGeom prst="rect">
            <a:avLst/>
          </a:prstGeom>
          <a:solidFill>
            <a:srgbClr val="E8ECF2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46888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governance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389120" y="2468880"/>
            <a:ext cx="365760" cy="685800"/>
          </a:xfrm>
          <a:prstGeom prst="rect">
            <a:avLst/>
          </a:prstGeom>
          <a:solidFill>
            <a:srgbClr val="E8ECF2"/>
          </a:solidFill>
          <a:ln/>
        </p:spPr>
      </p:sp>
      <p:sp>
        <p:nvSpPr>
          <p:cNvPr id="18" name="Text 16"/>
          <p:cNvSpPr/>
          <p:nvPr/>
        </p:nvSpPr>
        <p:spPr>
          <a:xfrm>
            <a:off x="4389120" y="246888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754880" y="2468880"/>
            <a:ext cx="3931920" cy="685800"/>
          </a:xfrm>
          <a:prstGeom prst="rect">
            <a:avLst/>
          </a:prstGeom>
          <a:solidFill>
            <a:srgbClr val="E8ECF2"/>
          </a:solidFill>
          <a:ln/>
        </p:spPr>
      </p:sp>
      <p:sp>
        <p:nvSpPr>
          <p:cNvPr id="20" name="Text 18"/>
          <p:cNvSpPr/>
          <p:nvPr/>
        </p:nvSpPr>
        <p:spPr>
          <a:xfrm>
            <a:off x="4937760" y="246888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Auditable LangSmith trace any third party can inspect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3246120"/>
            <a:ext cx="3931920" cy="685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324612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Epistemic injustice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389120" y="3246120"/>
            <a:ext cx="365760" cy="685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4389120" y="324612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4754880" y="3246120"/>
            <a:ext cx="3931920" cy="685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937760" y="324612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Open-source, low-cost (OpenScholar-style 8B model)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57200" y="4023360"/>
            <a:ext cx="3931920" cy="685800"/>
          </a:xfrm>
          <a:prstGeom prst="rect">
            <a:avLst/>
          </a:prstGeom>
          <a:solidFill>
            <a:srgbClr val="E8ECF2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40233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Black-box AI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389120" y="4023360"/>
            <a:ext cx="365760" cy="685800"/>
          </a:xfrm>
          <a:prstGeom prst="rect">
            <a:avLst/>
          </a:prstGeom>
          <a:solidFill>
            <a:srgbClr val="E8ECF2"/>
          </a:solidFill>
          <a:ln/>
        </p:spPr>
      </p:sp>
      <p:sp>
        <p:nvSpPr>
          <p:cNvPr id="30" name="Text 28"/>
          <p:cNvSpPr/>
          <p:nvPr/>
        </p:nvSpPr>
        <p:spPr>
          <a:xfrm>
            <a:off x="4389120" y="402336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4754880" y="4023360"/>
            <a:ext cx="3931920" cy="685800"/>
          </a:xfrm>
          <a:prstGeom prst="rect">
            <a:avLst/>
          </a:prstGeom>
          <a:solidFill>
            <a:srgbClr val="E8ECF2"/>
          </a:solidFill>
          <a:ln/>
        </p:spPr>
      </p:sp>
      <p:sp>
        <p:nvSpPr>
          <p:cNvPr id="32" name="Text 30"/>
          <p:cNvSpPr/>
          <p:nvPr/>
        </p:nvSpPr>
        <p:spPr>
          <a:xfrm>
            <a:off x="4937760" y="40233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chain-of-evidence: query → claim → source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Evaluation Strategy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931920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9000000">
              <a:srgbClr val="1a2744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325880"/>
            <a:ext cx="3566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A27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Benchmark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ScholarQABench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2,967 queries across 4 domains: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Science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Biomedicine</a:t>
            </a:r>
            <a:endParaRPr lang="en-US" sz="1600" dirty="0"/>
          </a:p>
          <a:p>
            <a:pPr marL="342900" indent="-342900">
              <a:buSzPct val="100000"/>
              <a:buChar char="▪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Neuroscience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3931920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9000000">
              <a:srgbClr val="1a2744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937760" y="1325880"/>
            <a:ext cx="3566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1A27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Metrics &amp; Targets</a:t>
            </a:r>
            <a:endParaRPr lang="en-US" sz="1600" dirty="0"/>
          </a:p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Citation F1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match OpenScholar (47–64%)</a:t>
            </a:r>
            <a:endParaRPr lang="en-US" sz="1600" dirty="0"/>
          </a:p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Claim-to-Source Confidence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NLI 4-class threshold (Supported ≥ 0.70)</a:t>
            </a:r>
            <a:endParaRPr lang="en-US" sz="1600" dirty="0"/>
          </a:p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Unsupported Sentence Ratio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Minimize sentences without evidence</a:t>
            </a:r>
            <a:endParaRPr lang="en-US" sz="1600" dirty="0"/>
          </a:p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DeepTRACE Audit Dimensions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8-dimension evaluation checklist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09728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280160"/>
            <a:ext cx="76809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D6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provenance problem is real, growing, and unaddressed by current frameworks</a:t>
            </a:r>
            <a:endParaRPr lang="en-US" sz="1500" dirty="0"/>
          </a:p>
          <a:p>
            <a:pPr marL="342900" indent="-3429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D6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CitationTrace demonstrates that RAG + verification + auditing can achieve expert-level citation accuracy</a:t>
            </a:r>
            <a:endParaRPr lang="en-US" sz="1500" dirty="0"/>
          </a:p>
          <a:p>
            <a:pPr marL="342900" indent="-3429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D6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LangSmith integration makes the chain of evidence transparent and fully reproducible</a:t>
            </a:r>
            <a:endParaRPr lang="en-US" sz="1500" dirty="0"/>
          </a:p>
          <a:p>
            <a:pPr marL="342900" indent="-3429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D6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approach democratizes access to verified research synthesis</a:t>
            </a:r>
            <a:endParaRPr lang="en-US" sz="1500" dirty="0"/>
          </a:p>
          <a:p>
            <a:pPr marL="342900" indent="-3429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D6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work: integrate user feedback loop, expand to non-English literature, scale to larger corpora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0" y="4572000"/>
            <a:ext cx="1371600" cy="571500"/>
          </a:xfrm>
          <a:prstGeom prst="rect">
            <a:avLst/>
          </a:prstGeom>
          <a:solidFill>
            <a:srgbClr val="3B82F6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References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100" u="sng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Earp, B. D., et al. (2025). The provenance problem: How AI challenges scholarly credit. arXiv:2509.13365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100" u="sng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Venkit, P. N., et al. (2025). DeepTRACE: An audit framework for AI citation reliability. arXiv:2509.04499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100" u="sng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Asai, A., et al. (2026). OpenScholar: Synthesizing scientific literature with retrieval-augmented LMs. Nature. doi:10.1038/s41586-025-10072-4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100" u="sng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Godinez, W. J. (2025). HySemRAG: Agentic QA for citation accuracy. arXiv:2508.05666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100" u="sng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He, Z., et al. (2024). CoV-RAG: Chain-of-Verification for RAG grounding. arXiv:2410.05801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100" u="sng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Zhou, Y., et al. (2024). Trustworthy RAG: Combating hallucinations in retrieval-augmented generation. arXiv:2409.10102</a:t>
            </a:r>
            <a:endParaRPr lang="en-US" sz="110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100" u="sng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Huang, L., et al. (2024). A survey on hallucination in large language models. arXiv:2311.05232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2026-04-15T02:49:17Z</dcterms:created>
  <dcterms:modified xsi:type="dcterms:W3CDTF">2026-04-15T02:49:17Z</dcterms:modified>
</cp:coreProperties>
</file>